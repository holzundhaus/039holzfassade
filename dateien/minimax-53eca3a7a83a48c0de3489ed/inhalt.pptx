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holzfassade.wordpress.com/2026/10/27/sonnenschutz-holzfassade-befestigung-hinterlueftung/" TargetMode="External"/><Relationship Id="rId3" Type="http://schemas.openxmlformats.org/officeDocument/2006/relationships/hyperlink" Target="https://holzundhaus.github.io/039holzfassade/dateien/minimax-53eca3a7a83a48c0de3489e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Außenliegender Sonnenschutz an einer Holzfassade: Befestigung, Hinterlüftung und Brandschutz im Zusammenspiel · Erklärende Präsentation</a:t>
            </a:r>
          </a:p>
        </p:txBody>
      </p:sp>
      <p:sp>
        <p:nvSpPr>
          <p:cNvPr id="3" name="Content Placeholder 2"/>
          <p:cNvSpPr>
            <a:spLocks noGrp="1"/>
          </p:cNvSpPr>
          <p:nvPr>
            <p:ph idx="1"/>
          </p:nvPr>
        </p:nvSpPr>
        <p:spPr/>
        <p:txBody>
          <a:bodyPr/>
          <a:lstStyle/>
          <a:p>
            <a:r>
              <a:t>Überblick: Außenliegender Sonnenschutz wirkt nicht nur auf das Erscheinungsbild einer Holzfassade. Er verändert auch ihre Befestigung, die Luftführung hinter der Bekleidung und die brandschutztechnischen Randbedingungen. Der zentrale Ratgeber zeigt, wie diese Schnittstellen frühzeitig gemeinsam geplant werden können und welche Fragen vor der Ausführung zu klären sind. Das ergänzt die [Übersicht zum außenliegenden Sonnenschutz an Holzfassaden](https://039holzfassade.wordpress.com/2026/10/27/sonnenschutz-holzfassade-befestigung-hinterlueftung/) um einen praktischen Planungsablauf.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verändert Sonnenschutz die gesamte Fassadenplanung?</a:t>
            </a:r>
          </a:p>
        </p:txBody>
      </p:sp>
      <p:sp>
        <p:nvSpPr>
          <p:cNvPr id="3" name="Content Placeholder 2"/>
          <p:cNvSpPr>
            <a:spLocks noGrp="1"/>
          </p:cNvSpPr>
          <p:nvPr>
            <p:ph idx="1"/>
          </p:nvPr>
        </p:nvSpPr>
        <p:spPr/>
        <p:txBody>
          <a:bodyPr/>
          <a:lstStyle/>
          <a:p>
            <a:pPr>
              <a:defRPr sz="1800"/>
            </a:pPr>
            <a:r>
              <a:t>Raffstoren, Rollläden, Markisen und feste Verschattungselemente stehen vor der Holzbekleidung und wirken dort zugleich als Wärmeschutz, gestalterisches Element und bauphysikalische Eingriffsgröße. Ihre Kästen und Führungsschienen verändern die Luftströmung vor und hinter der Fassade. Zugleich werden Kräfte aus Wind und Bewegung über Konsolen und Befestigungspunkte in den Wandaufbau eingeleitet. Deshalb sollte die Auswahl nicht erst nach Fertigung der Bekleidung erfolgen. Profil, Kastengröße, Schienenbreite, Farbe und Position wirken sich unmittelbar auf das Fassadenbild aus. Eine früh abgestimmte Planung verhindert, dass sichtbare Bauteile 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verändert Sonnenschutz die gesamte Fassadenplanung?</a:t>
            </a:r>
          </a:p>
        </p:txBody>
      </p:sp>
      <p:sp>
        <p:nvSpPr>
          <p:cNvPr id="3" name="Content Placeholder 2"/>
          <p:cNvSpPr>
            <a:spLocks noGrp="1"/>
          </p:cNvSpPr>
          <p:nvPr>
            <p:ph idx="1"/>
          </p:nvPr>
        </p:nvSpPr>
        <p:spPr/>
        <p:txBody>
          <a:bodyPr/>
          <a:lstStyle/>
          <a:p>
            <a:pPr>
              <a:defRPr sz="1800"/>
            </a:pPr>
            <a:r>
              <a:t>chträglich mit der Fassade harmonieren sollen oder vorhandene Anschlüsse verändert werden müssen.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müssen Kästen und Führungsschienen verankert werden?</a:t>
            </a:r>
          </a:p>
        </p:txBody>
      </p:sp>
      <p:sp>
        <p:nvSpPr>
          <p:cNvPr id="3" name="Content Placeholder 2"/>
          <p:cNvSpPr>
            <a:spLocks noGrp="1"/>
          </p:cNvSpPr>
          <p:nvPr>
            <p:ph idx="1"/>
          </p:nvPr>
        </p:nvSpPr>
        <p:spPr/>
        <p:txBody>
          <a:bodyPr/>
          <a:lstStyle/>
          <a:p>
            <a:pPr>
              <a:defRPr sz="1800"/>
            </a:pPr>
            <a:r>
              <a:t>Die entscheidende Frage lautet nicht, ob ein Element in Holz oder in den Untergrund geschraubt wird, sondern in welcher Schicht es tatsächlich verankert wird. Kästen und Schienen werden in der Regel an der Trag- oder Grundlattung befestigt, nicht an der dünnen Bekleidung. Die tatsächliche Tragfähigkeit hängt dabei vom Querschnitt der Lattung, vom Achsabstand und von ihrer Befestigung im Untergrund ab. Bei vorgesetzten Kästen kann eine zusätzliche Lattungsebene nötig werden, damit Verschattungselement und Holzbekleidung einander nicht in den Weg geraten. Auch die Bewegung des Holzes ist zu berücksichtigen: Holz arbeitet quer zur Faser stärker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müssen Kästen und Führungsschienen verankert werden?</a:t>
            </a:r>
          </a:p>
        </p:txBody>
      </p:sp>
      <p:sp>
        <p:nvSpPr>
          <p:cNvPr id="3" name="Content Placeholder 2"/>
          <p:cNvSpPr>
            <a:spLocks noGrp="1"/>
          </p:cNvSpPr>
          <p:nvPr>
            <p:ph idx="1"/>
          </p:nvPr>
        </p:nvSpPr>
        <p:spPr/>
        <p:txBody>
          <a:bodyPr/>
          <a:lstStyle/>
          <a:p>
            <a:pPr>
              <a:defRPr sz="1800"/>
            </a:pPr>
            <a:r>
              <a:t>als längs zur Faser. Befestigungen dürfen diese Bewegung nicht unbeabsichtigt einspannen. Zuständigkeiten und Übergänge zwischen Fassade und Sonnenschutz sollten deshalb vor der Montage schriftlich geklärt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bleibt die Hinterlüftung trotz Kästen und Schienen funktionsfähig?</a:t>
            </a:r>
          </a:p>
        </p:txBody>
      </p:sp>
      <p:sp>
        <p:nvSpPr>
          <p:cNvPr id="3" name="Content Placeholder 2"/>
          <p:cNvSpPr>
            <a:spLocks noGrp="1"/>
          </p:cNvSpPr>
          <p:nvPr>
            <p:ph idx="1"/>
          </p:nvPr>
        </p:nvSpPr>
        <p:spPr/>
        <p:txBody>
          <a:bodyPr/>
          <a:lstStyle/>
          <a:p>
            <a:pPr>
              <a:defRPr sz="1800"/>
            </a:pPr>
            <a:r>
              <a:t>Der Luftzwischenraum hinter der Bekleidung ist Teil des Feuchtekonzepts. Ein außenliegender Sonnenschutz kann Zuluft- und Abluftwege verengen, wenn Kästen, Schienen oder Faltstores in den Luftweg hineinragen. Zu prüfen sind deshalb die freien Querschnitte am Sockel, an Fenstern und am oberen Abschluss sowie die Zusammenführung von Tropfblechen und Abschlussprofilen. Markisen und Rollläden können direkte Beanspruchung durch Sonne reduzieren, schützen aber nicht vollständig vor Schlagregen, Spritzwasser und Windtrieb. Die Wetterschutzebene hinter der Holzfassade muss weiterhin zum Standort passen. Weitere Grundlagen dazu bietet der [Ratgeber zu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bleibt die Hinterlüftung trotz Kästen und Schienen funktionsfähig?</a:t>
            </a:r>
          </a:p>
        </p:txBody>
      </p:sp>
      <p:sp>
        <p:nvSpPr>
          <p:cNvPr id="3" name="Content Placeholder 2"/>
          <p:cNvSpPr>
            <a:spLocks noGrp="1"/>
          </p:cNvSpPr>
          <p:nvPr>
            <p:ph idx="1"/>
          </p:nvPr>
        </p:nvSpPr>
        <p:spPr/>
        <p:txBody>
          <a:bodyPr/>
          <a:lstStyle/>
          <a:p>
            <a:pPr>
              <a:defRPr sz="1800"/>
            </a:pPr>
            <a:r>
              <a:t>r Hinterlüftung von Holzfassaden](https://www.039holzfassade.de/ratgeber/hinterlueftung/), insbesondere zur Schichtenfolge und zu den erforderlichen Lüftungswegen.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Brandschutzfragen entstehen durch zusätzliche Fassadenbauteile?</a:t>
            </a:r>
          </a:p>
        </p:txBody>
      </p:sp>
      <p:sp>
        <p:nvSpPr>
          <p:cNvPr id="3" name="Content Placeholder 2"/>
          <p:cNvSpPr>
            <a:spLocks noGrp="1"/>
          </p:cNvSpPr>
          <p:nvPr>
            <p:ph idx="1"/>
          </p:nvPr>
        </p:nvSpPr>
        <p:spPr/>
        <p:txBody>
          <a:bodyPr/>
          <a:lstStyle/>
          <a:p>
            <a:pPr>
              <a:defRPr sz="1800"/>
            </a:pPr>
            <a:r>
              <a:t>Kästen, Schienen und Textilien verändern die Bauteile vor der Fassade und müssen mit dem Brandschutzkonzept des Gebäudes abgestimmt werden. Materialien wie Aluminium, Stahl oder Kunststoff verhalten sich im Brandfall anders als Holz. Bei mehrgeschossigen Gebäuden ist außerdem zu klären, ob durchgehende oder über mehrere Geschosse reichende Hohlräume entstehen und ob Kästen an Sturz oder Brüstung in die Dämmebene hineinreichen. Für die erforderlichen Nachweise sind insbesondere Gebäudeklasse, Gebäudehöhe, Nutzung und die tatsächliche Ausbildung der Hohlräume maßgeblich. Die in den Quellen genannten Anforderungen der Art. 26 BayBO bietet dafür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Brandschutzfragen entstehen durch zusätzliche Fassadenbauteile?</a:t>
            </a:r>
          </a:p>
        </p:txBody>
      </p:sp>
      <p:sp>
        <p:nvSpPr>
          <p:cNvPr id="3" name="Content Placeholder 2"/>
          <p:cNvSpPr>
            <a:spLocks noGrp="1"/>
          </p:cNvSpPr>
          <p:nvPr>
            <p:ph idx="1"/>
          </p:nvPr>
        </p:nvSpPr>
        <p:spPr/>
        <p:txBody>
          <a:bodyPr/>
          <a:lstStyle/>
          <a:p>
            <a:pPr>
              <a:defRPr sz="1800"/>
            </a:pPr>
            <a:r>
              <a:t>einen Orientierungsrahmen, ersetzen jedoch nicht die objektbezogene Planung. Brandschutz sollte deshalb früh mit der Fachplanung abgestimmt und nicht erst bei der Materialauswahl behandelt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Entscheidungen gehören in einen gemeinsamen Planungsablauf?</a:t>
            </a:r>
          </a:p>
        </p:txBody>
      </p:sp>
      <p:sp>
        <p:nvSpPr>
          <p:cNvPr id="3" name="Content Placeholder 2"/>
          <p:cNvSpPr>
            <a:spLocks noGrp="1"/>
          </p:cNvSpPr>
          <p:nvPr>
            <p:ph idx="1"/>
          </p:nvPr>
        </p:nvSpPr>
        <p:spPr/>
        <p:txBody>
          <a:bodyPr/>
          <a:lstStyle/>
          <a:p>
            <a:pPr>
              <a:defRPr sz="1800"/>
            </a:pPr>
            <a:r>
              <a:t>Vor der Ausführung empfiehlt sich eine abgestimmte Prüfung in sechs Schritten: Wandaufbau und Verankerungsebene festlegen, Tragfähigkeit der Lattung klären, Lüftungsquerschnitte an Sockel, Fenstern und oberem Abschluss prüfen, Brandschutzanforderungen mit Gebäudeklasse und Hohlräumen abstimmen, die sichtbaren Kästen und Schienen am Fassadenbild bemustern sowie Zuständigkeiten für Lieferung, Montage und Anschlüsse definieren. Ergänzend ist festzulegen, wie Regensicherungen, Abschlussprofile und Schnittstellen zwischen Sonnenschutz und Bekleidung ausgeführt werden. So werden Verschattung, Holzschutz, Feuchteabführung und konstruktive Sicherheit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Entscheidungen gehören in einen gemeinsamen Planungsablauf?</a:t>
            </a:r>
          </a:p>
        </p:txBody>
      </p:sp>
      <p:sp>
        <p:nvSpPr>
          <p:cNvPr id="3" name="Content Placeholder 2"/>
          <p:cNvSpPr>
            <a:spLocks noGrp="1"/>
          </p:cNvSpPr>
          <p:nvPr>
            <p:ph idx="1"/>
          </p:nvPr>
        </p:nvSpPr>
        <p:spPr/>
        <p:txBody>
          <a:bodyPr/>
          <a:lstStyle/>
          <a:p>
            <a:pPr>
              <a:defRPr sz="1800"/>
            </a:pPr>
            <a:r>
              <a:t> nicht als Einzelaspekte behandelt, sondern als zusammenhängendes Fassadensystem.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Außenliegender Sonnenschutz an einer Holzfassade: Befestigung, Hinterlüftung und Brandschutz im Zusammenspiel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