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holzfassade.wordpress.com/2026/10/16/werk-und-ausfuehrungsplanung-holzfassade/" TargetMode="External"/><Relationship Id="rId3" Type="http://schemas.openxmlformats.org/officeDocument/2006/relationships/hyperlink" Target="https://holzundhaus.github.io/039holzfassade/dateien/minimax-8abf3a588c4d7b7c8acb9d1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Werk- und Ausführungsplanung für eine Holzfassade: Schnittstellen und Ausschreibung · Erklärende Präsentation</a:t>
            </a:r>
          </a:p>
        </p:txBody>
      </p:sp>
      <p:sp>
        <p:nvSpPr>
          <p:cNvPr id="3" name="Content Placeholder 2"/>
          <p:cNvSpPr>
            <a:spLocks noGrp="1"/>
          </p:cNvSpPr>
          <p:nvPr>
            <p:ph idx="1"/>
          </p:nvPr>
        </p:nvSpPr>
        <p:spPr/>
        <p:txBody>
          <a:bodyPr/>
          <a:lstStyle/>
          <a:p>
            <a:r>
              <a:t>Überblick: Eine Holzfassade wird in hohem Maße von den Entscheidungen geprägt, die bereits vor der Planungsphase fallen. Die Wahl der Holzart, der Wandaufbau und das Befestigungssystem bestimmen über Dauerhaftigkeit, Pflegeaufwand und den bauphysikalischen Schutz des Gebäudes. Dieser Ratgeber beleuchtet die wesentlichen Faktoren, die Eigentümer und Planer vor der konkreten Umsetzung kennen sollten, und ergänzt damit die systematische Werk- und Ausführungsplanung, die auf der Hauptseite beschrieben wird.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Holzart und Sortierung passend zum Standort wählen</a:t>
            </a:r>
          </a:p>
        </p:txBody>
      </p:sp>
      <p:sp>
        <p:nvSpPr>
          <p:cNvPr id="3" name="Content Placeholder 2"/>
          <p:cNvSpPr>
            <a:spLocks noGrp="1"/>
          </p:cNvSpPr>
          <p:nvPr>
            <p:ph idx="1"/>
          </p:nvPr>
        </p:nvSpPr>
        <p:spPr/>
        <p:txBody>
          <a:bodyPr/>
          <a:lstStyle/>
          <a:p>
            <a:pPr>
              <a:defRPr sz="1800"/>
            </a:pPr>
            <a:r>
              <a:t>Nicht jede Holzart eignet sich gleichermaßen für eine Fassade im Außenbereich. Die Unterschiede betreffen Rohdichte, natürliche Inhaltsstoffe und damit die Widerstandsfähigkeit gegenüber Witterung und Schadinsekten. Für vorgehängte hinterlüftete Holzfassaden werden in der Praxis überwiegend Lärche, Douglasie und thermisch modifizierte Hölzer eingesetzt. Lärchenholz besitzt von Natur aus ein höheres Harz- und Harzölaufkommen, das die Widerstandsfähigkeit erhöht. Douglasie zeigt ähnliche Eigenschaften, ist jedoch stärker von der jeweiligen Charge abhängig. Thermobehandelte Hölzer errenen durch die Veränderung der Zellstruktur eine verbesserte 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Holzart und Sortierung passend zum Standort wählen</a:t>
            </a:r>
          </a:p>
        </p:txBody>
      </p:sp>
      <p:sp>
        <p:nvSpPr>
          <p:cNvPr id="3" name="Content Placeholder 2"/>
          <p:cNvSpPr>
            <a:spLocks noGrp="1"/>
          </p:cNvSpPr>
          <p:nvPr>
            <p:ph idx="1"/>
          </p:nvPr>
        </p:nvSpPr>
        <p:spPr/>
        <p:txBody>
          <a:bodyPr/>
          <a:lstStyle/>
          <a:p>
            <a:pPr>
              <a:defRPr sz="1800"/>
            </a:pPr>
            <a:r>
              <a:t>imensionsstabilität und reduzierte Wasseraufnahme. Neben der Holzart selbst spielt die Sortierung eine Rolle. Sortierungsmerkmale wie Ästigkeit, Faserverlauf und eventuelle Verfärbungen beeinflussen sowohl die Optik als auch das Verhalten der Oberfläche im Laufe der Zeit. Die Sortierklasse sollte entsprechend des geplanten Oberflächenziels und des angestrebten Wartungsintervalls ausgewählt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Hinterlüftung und Feuchteschutz planen</a:t>
            </a:r>
          </a:p>
        </p:txBody>
      </p:sp>
      <p:sp>
        <p:nvSpPr>
          <p:cNvPr id="3" name="Content Placeholder 2"/>
          <p:cNvSpPr>
            <a:spLocks noGrp="1"/>
          </p:cNvSpPr>
          <p:nvPr>
            <p:ph idx="1"/>
          </p:nvPr>
        </p:nvSpPr>
        <p:spPr/>
        <p:txBody>
          <a:bodyPr/>
          <a:lstStyle/>
          <a:p>
            <a:pPr>
              <a:defRPr sz="1800"/>
            </a:pPr>
            <a:r>
              <a:t>Die Funktionsfähigkeit einer Holzfassade hängt entscheidend davon ab, dass eingedrungene Feuchtigkeit schnell abtrocknen kann. Eine Hinterlüftungsebene zwischen Dämmung und Beplankung ermöglicht die kontinuierliche Luftzirkulation, die für diesen Prozess erforderlich ist. Die Dimensionierung der Lüftungsöffnungen an Sockel und Attika richtet sich nach der Fassadenfläche und der zu erwartenden Schlagregenbelastung. EinMindestquerschnitt von 50 Quadratzentimetern je laufendem Meter gilt als Orientierungswert, der je nach Standort und Gebäudehöhe angepasst wird. Ergänzend dazu schützt eine Wetterschutzbene aus diffusionsoffener, aber wasserabwei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Hinterlüftung und Feuchteschutz planen</a:t>
            </a:r>
          </a:p>
        </p:txBody>
      </p:sp>
      <p:sp>
        <p:nvSpPr>
          <p:cNvPr id="3" name="Content Placeholder 2"/>
          <p:cNvSpPr>
            <a:spLocks noGrp="1"/>
          </p:cNvSpPr>
          <p:nvPr>
            <p:ph idx="1"/>
          </p:nvPr>
        </p:nvSpPr>
        <p:spPr/>
        <p:txBody>
          <a:bodyPr/>
          <a:lstStyle/>
          <a:p>
            <a:pPr>
              <a:defRPr sz="1800"/>
            </a:pPr>
            <a:r>
              <a:t>sender Bahn die dahinterliegende Konstruktion vor Schlagregen, der trotz Hinterlüftung eindringen kann. Diese Ebene muss sorgfältig an Fenstersimse, Attika und Durchdringungen angeschlossen werden, da hier die häufigsten Fehlstellen entstehen. Ohne funktionierende Hinterlüftung und Wetterschutzebene steigt das Risiko von Schimmelbildung, Holzfäule und delaminierten Bekleidungen deutlich 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Befestigungssysteme und Anschlussdetails</a:t>
            </a:r>
          </a:p>
        </p:txBody>
      </p:sp>
      <p:sp>
        <p:nvSpPr>
          <p:cNvPr id="3" name="Content Placeholder 2"/>
          <p:cNvSpPr>
            <a:spLocks noGrp="1"/>
          </p:cNvSpPr>
          <p:nvPr>
            <p:ph idx="1"/>
          </p:nvPr>
        </p:nvSpPr>
        <p:spPr/>
        <p:txBody>
          <a:bodyPr/>
          <a:lstStyle/>
          <a:p>
            <a:pPr>
              <a:defRPr sz="1800"/>
            </a:pPr>
            <a:r>
              <a:t>Die mechanische Befestigung der Holzbekleidung erfolgt je nach Profil und Holzart entweder mit sichtbarer Verschraubung, Klammerung oder mit verdeckten Systemen. Sichtbare Verschraubungen mit Edelstahlschrauben gelten als robuste und nachvollziehbare Variante, die eine einfache Wartung erlauben. Klammersysteme bieten eine gleichmäßigere Optik und verteilen die Befestigungskräfte auf eine größere Fläche. Verdeckte Befestigungen erfordern präzisere Werkplanung und spezielle Profilformen, erlauben aber eine ununterbrochene Oberfläche. Unabhängig vom gewählten System muss der Abstand der Befestigungsmittel zum Hirnholz ausreichend groß gewählt we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Befestigungssysteme und Anschlussdetails</a:t>
            </a:r>
          </a:p>
        </p:txBody>
      </p:sp>
      <p:sp>
        <p:nvSpPr>
          <p:cNvPr id="3" name="Content Placeholder 2"/>
          <p:cNvSpPr>
            <a:spLocks noGrp="1"/>
          </p:cNvSpPr>
          <p:nvPr>
            <p:ph idx="1"/>
          </p:nvPr>
        </p:nvSpPr>
        <p:spPr/>
        <p:txBody>
          <a:bodyPr/>
          <a:lstStyle/>
          <a:p>
            <a:pPr>
              <a:defRPr sz="1800"/>
            </a:pPr>
            <a:r>
              <a:t>rden, um Rissbildungen im Bereich der Anschlüsse zu minimieren. Bei glatten Oberflächenprofilen ist zudem die volumenstabilität des Holzes zu berücksichtigen, da Quell- und Schwindbewegungen bei wechselnder Feuchte auftreten.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Wartung und Lebensdauer</a:t>
            </a:r>
          </a:p>
        </p:txBody>
      </p:sp>
      <p:sp>
        <p:nvSpPr>
          <p:cNvPr id="3" name="Content Placeholder 2"/>
          <p:cNvSpPr>
            <a:spLocks noGrp="1"/>
          </p:cNvSpPr>
          <p:nvPr>
            <p:ph idx="1"/>
          </p:nvPr>
        </p:nvSpPr>
        <p:spPr/>
        <p:txBody>
          <a:bodyPr/>
          <a:lstStyle/>
          <a:p>
            <a:pPr>
              <a:defRPr sz="1800"/>
            </a:pPr>
            <a:r>
              <a:t>Holzfassaden verändern sich im Laufe der Zeit – das ist ein normaler Prozess und kein Mangel. Ohne chemischen Oberflächenschutz bildet sich unter UV-Einwirkung eine silbergraue Patina, die das Holz zwar nicht zerstört, aber die Optik verändert. Wer die ursprüngliche Farbwirkung erhalten möchte, muss regelmäßig pigmentierte Öle oder Lasuren auftragen. Der Wartungsaufwand hängt stark von der Holzart, dem Profil und dem Standort ab. In windoffenen Lagen mit hoher Schlagregenbelastung sind kürzere Wartungsintervalle zu erwarten als in geschützten Bereichen. Eine regelmäßige Sichtkontrolle der Anschlüsse, Lüftungsöffnungen und Befestigungen hilft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Wartung und Lebensdauer</a:t>
            </a:r>
          </a:p>
        </p:txBody>
      </p:sp>
      <p:sp>
        <p:nvSpPr>
          <p:cNvPr id="3" name="Content Placeholder 2"/>
          <p:cNvSpPr>
            <a:spLocks noGrp="1"/>
          </p:cNvSpPr>
          <p:nvPr>
            <p:ph idx="1"/>
          </p:nvPr>
        </p:nvSpPr>
        <p:spPr/>
        <p:txBody>
          <a:bodyPr/>
          <a:lstStyle/>
          <a:p>
            <a:pPr>
              <a:defRPr sz="1800"/>
            </a:pPr>
            <a:r>
              <a:t>dabei, Probleme frühzeitig zu erkennen, bevor sie sich auf größere Flächen auswirken. Ergänzende Hinweise zur Kostenbewertung und zuBudgetfaktoren bietet der Ratgeber zum Thema Holzfassade-Kosten auf der Hauptseite.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Werk- und Ausführungsplanung für eine Holzfassade: Schnittstellen und Ausschreibung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