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39holzfassade/mischfassade-holz-putz-metall-faserzement/" TargetMode="External"/><Relationship Id="rId3" Type="http://schemas.openxmlformats.org/officeDocument/2006/relationships/hyperlink" Target="https://holzundhaus.github.io/039holzfassade/dateien/minimax-833018685057c9474c65e69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Mischfassade aus Holz und Putz, Metall oder Faserzement: Übergänge, Profile und Schichttrennung · Erklärende Präsentation</a:t>
            </a:r>
          </a:p>
        </p:txBody>
      </p:sp>
      <p:sp>
        <p:nvSpPr>
          <p:cNvPr id="3" name="Content Placeholder 2"/>
          <p:cNvSpPr>
            <a:spLocks noGrp="1"/>
          </p:cNvSpPr>
          <p:nvPr>
            <p:ph idx="1"/>
          </p:nvPr>
        </p:nvSpPr>
        <p:spPr/>
        <p:txBody>
          <a:bodyPr/>
          <a:lstStyle/>
          <a:p>
            <a:r>
              <a:t>Überblick: Eine Mischfassade aus Holz und Putz, Metall oder Faserzement verbindet Materialien mit unterschiedlichen Eigenschaften. Gerade an den Übergängen entscheidet sich, ob die Fassade dauerhaft funktioniert und optisch stimmig wirkt. Dieser Ratgeber erklärt, worauf es bei Unterkonstruktion, Fugen, Profilen, Wärmebrücken, Optik und Wartung ankommt. Für die Auswahl geeigneter Holzarten bietet der [Holzarten-Ratgeber](https://www.039holzfassade.de/ratgeber/holzarten/) eine ergänzende Übersicht.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Mischfassade sinnvoll ist</a:t>
            </a:r>
          </a:p>
        </p:txBody>
      </p:sp>
      <p:sp>
        <p:nvSpPr>
          <p:cNvPr id="3" name="Content Placeholder 2"/>
          <p:cNvSpPr>
            <a:spLocks noGrp="1"/>
          </p:cNvSpPr>
          <p:nvPr>
            <p:ph idx="1"/>
          </p:nvPr>
        </p:nvSpPr>
        <p:spPr/>
        <p:txBody>
          <a:bodyPr/>
          <a:lstStyle/>
          <a:p>
            <a:pPr>
              <a:defRPr sz="1800"/>
            </a:pPr>
            <a:r>
              <a:t>Eine Mischfassade kann aus gestalterischen Gründen eingesetzt werden, aber auch dort sinnvoll sein, wo unterschiedliche Anforderungen an einzelne Fassadenbereiche gestellt werden. Das betrifft etwa den Sockelbereich mit erhöhter Spritzwasser- oder Stoßbelastung, Teilflächen mit besonderen Anforderungen an Brand- oder Schallschutz sowie den Anschluss an Putzflächen, Metallverkleidungen oder bestehende Bekleidungen. Auch die bewusste Akzentuierung einzelner Abschnitte gehört zu den möglichen Gründen.</a:t>
            </a:r>
          </a:p>
          <a:p>
            <a:pPr>
              <a:defRPr sz="1800"/>
            </a:pPr>
          </a:p>
          <a:p>
            <a:pPr>
              <a:defRPr sz="1800"/>
            </a:pPr>
            <a:r>
              <a:t>Entscheidend ist, dass jede Materialfläche ihre eigene technische Logik behält. Holz arbeitet und reagiert auf Feuchte, Putz kann diffusionsoffen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Mischfassade sinnvoll ist</a:t>
            </a:r>
          </a:p>
        </p:txBody>
      </p:sp>
      <p:sp>
        <p:nvSpPr>
          <p:cNvPr id="3" name="Content Placeholder 2"/>
          <p:cNvSpPr>
            <a:spLocks noGrp="1"/>
          </p:cNvSpPr>
          <p:nvPr>
            <p:ph idx="1"/>
          </p:nvPr>
        </p:nvSpPr>
        <p:spPr/>
        <p:txBody>
          <a:bodyPr/>
          <a:lstStyle/>
          <a:p>
            <a:pPr>
              <a:defRPr sz="1800"/>
            </a:pPr>
            <a:r>
              <a:t> oder geschlossen sein, Metall reagiert auf Temperaturwechsel, und Faserzement bleibt formstabil. Diese Unterschiede müssen bereits bei der Planung berücksichtigt werden. Die [Übersicht zu Mischfassaden](https://holzundhaus.github.io/039holzfassade/mischfassade-holz-putz-metall-faserzement/) erläutert die wichtigsten Übergänge, Profile und Anforderungen an die Schichttrennung.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Schichttrennung am Materialwechsel</a:t>
            </a:r>
          </a:p>
        </p:txBody>
      </p:sp>
      <p:sp>
        <p:nvSpPr>
          <p:cNvPr id="3" name="Content Placeholder 2"/>
          <p:cNvSpPr>
            <a:spLocks noGrp="1"/>
          </p:cNvSpPr>
          <p:nvPr>
            <p:ph idx="1"/>
          </p:nvPr>
        </p:nvSpPr>
        <p:spPr/>
        <p:txBody>
          <a:bodyPr/>
          <a:lstStyle/>
          <a:p>
            <a:pPr>
              <a:defRPr sz="1800"/>
            </a:pPr>
            <a:r>
              <a:t>Am Übergang enden die Aufbauten der beiden Materialien nicht einfach. Unterkonstruktion, Befestigung und eventuell vorhandene Hinterlüftung sollten getrennt voneinander geführt werden. Eine gemeinsame Traglattung kann sonst Feuchtebrücken zwischen den Materialien bilden oder dazu beitragen, dass Bewegungen aufeinander übertragen werden.</a:t>
            </a:r>
          </a:p>
          <a:p>
            <a:pPr>
              <a:defRPr sz="1800"/>
            </a:pPr>
          </a:p>
          <a:p>
            <a:pPr>
              <a:defRPr sz="1800"/>
            </a:pPr>
            <a:r>
              <a:t>Außerdem ist der Hinterlüftungsspalt an der Grenze besonders aufmerksam zu behandeln. Er sollte weder unterbrochen noch durch Verschmutzung ungeeignet werden. Für das Holz sind zudem Bewegungsfugen einzuplanen, damit Quellen und Schwinden nicht zu Spannungen führen. Die Anschlüsse an die Wetterschutzebene müs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Schichttrennung am Materialwechsel</a:t>
            </a:r>
          </a:p>
        </p:txBody>
      </p:sp>
      <p:sp>
        <p:nvSpPr>
          <p:cNvPr id="3" name="Content Placeholder 2"/>
          <p:cNvSpPr>
            <a:spLocks noGrp="1"/>
          </p:cNvSpPr>
          <p:nvPr>
            <p:ph idx="1"/>
          </p:nvPr>
        </p:nvSpPr>
        <p:spPr/>
        <p:txBody>
          <a:bodyPr/>
          <a:lstStyle/>
          <a:p>
            <a:pPr>
              <a:defRPr sz="1800"/>
            </a:pPr>
            <a:r>
              <a:t>sen wasserführend und nicht kapillar ausgeführt sein. Gerade weil eine zweite Bekleidungsart zusätzliche Anschlussflächen schafft, ist der Materialwechsel ein sensibler Detailbereich.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Profile und sichtbare Übergänge</a:t>
            </a:r>
          </a:p>
        </p:txBody>
      </p:sp>
      <p:sp>
        <p:nvSpPr>
          <p:cNvPr id="3" name="Content Placeholder 2"/>
          <p:cNvSpPr>
            <a:spLocks noGrp="1"/>
          </p:cNvSpPr>
          <p:nvPr>
            <p:ph idx="1"/>
          </p:nvPr>
        </p:nvSpPr>
        <p:spPr/>
        <p:txBody>
          <a:bodyPr/>
          <a:lstStyle/>
          <a:p>
            <a:pPr>
              <a:defRPr sz="1800"/>
            </a:pPr>
            <a:r>
              <a:t>Übergangsprofile erfüllen an einer Mischfassade zwei Aufgaben: Sie trennen die Materialien optisch und nehmen Bewegungen auf. Wo Holz auf Putz trifft, müssen sie die unterschiedliche thermische und hygrische Bewegung der Flächen berücksichtigen. Je nach Aufbau können Edelstahl- oder Aluminium-Tropfkantenprofile am unteren Ende einer Holzbekleidung, Dehnfugenprofile oder Schattenfugen eingesetzt werden. Für Faserzement sind Abschlussprofile mit passender Fugenausbildung relevant.</a:t>
            </a:r>
          </a:p>
          <a:p>
            <a:pPr>
              <a:defRPr sz="1800"/>
            </a:pPr>
          </a:p>
          <a:p>
            <a:pPr>
              <a:defRPr sz="1800"/>
            </a:pPr>
            <a:r>
              <a:t>Ein Profil darf nicht zu eng an der Holzbekleidung anliegen, weil das Holz bei Temperaturschwankungen seine Dimension verändert. Die Bewegungsreserve muss zur Brettb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Profile und sichtbare Übergänge</a:t>
            </a:r>
          </a:p>
        </p:txBody>
      </p:sp>
      <p:sp>
        <p:nvSpPr>
          <p:cNvPr id="3" name="Content Placeholder 2"/>
          <p:cNvSpPr>
            <a:spLocks noGrp="1"/>
          </p:cNvSpPr>
          <p:nvPr>
            <p:ph idx="1"/>
          </p:nvPr>
        </p:nvSpPr>
        <p:spPr/>
        <p:txBody>
          <a:bodyPr/>
          <a:lstStyle/>
          <a:p>
            <a:pPr>
              <a:defRPr sz="1800"/>
            </a:pPr>
            <a:r>
              <a:t>reite und Holzart passen; die Quelle nennt mehrere Millimeter als Größenordnung. Zugleich beeinflusst die Profilart die optische Wirkung: Eine sauber ausgebildete Fuge kann Toleranzen verdecken und den Materialwechsel klarer erscheinen lassen.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Wärmebrücken und bauphysikalische Übergänge</a:t>
            </a:r>
          </a:p>
        </p:txBody>
      </p:sp>
      <p:sp>
        <p:nvSpPr>
          <p:cNvPr id="3" name="Content Placeholder 2"/>
          <p:cNvSpPr>
            <a:spLocks noGrp="1"/>
          </p:cNvSpPr>
          <p:nvPr>
            <p:ph idx="1"/>
          </p:nvPr>
        </p:nvSpPr>
        <p:spPr/>
        <p:txBody>
          <a:bodyPr/>
          <a:lstStyle/>
          <a:p>
            <a:pPr>
              <a:defRPr sz="1800"/>
            </a:pPr>
            <a:r>
              <a:t>Ein Materialwechsel kann eine Wärmebrücke bilden, wenn die Dämmung dahinter nicht durchgehend geführt wird. Besonders relevant ist das bei unterschiedlichen Dämmstärken, beispielsweise wenn eine Putzfläche zur Bestandswand gehört und die Holzbekleidung auf einer neuen, gedämmten Traglattung sitzt. Zu typischen Schwachstellen gehören durchlaufende Holz- oder Metallunterkonstruktionen ohne thermische Trennung, ungedämmte Bereiche im Anschluss an Putz sowie undichte Anschlüsse, durch die Kaltluft hinter die Dämmung gelangen kann. Auch Metallprofile können linienförmige Wärmebrücken darstellen.</a:t>
            </a:r>
          </a:p>
          <a:p>
            <a:pPr>
              <a:defRPr sz="1800"/>
            </a:pPr>
          </a:p>
          <a:p>
            <a:pPr>
              <a:defRPr sz="1800"/>
            </a:pPr>
            <a:r>
              <a:t>Wenn die Dämmung nicht in einer Ebene durchgezogen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Wärmebrücken und bauphysikalische Übergänge</a:t>
            </a:r>
          </a:p>
        </p:txBody>
      </p:sp>
      <p:sp>
        <p:nvSpPr>
          <p:cNvPr id="3" name="Content Placeholder 2"/>
          <p:cNvSpPr>
            <a:spLocks noGrp="1"/>
          </p:cNvSpPr>
          <p:nvPr>
            <p:ph idx="1"/>
          </p:nvPr>
        </p:nvSpPr>
        <p:spPr/>
        <p:txBody>
          <a:bodyPr/>
          <a:lstStyle/>
          <a:p>
            <a:pPr>
              <a:defRPr sz="1800"/>
            </a:pPr>
            <a:r>
              <a:t>werden kann, sollte der Übergang bauphysikalisch geprüft werden. Die handwerkliche Ausführung allein ersetzt diese Betrachtung nicht.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Optik und Wartung an der Materialgrenze</a:t>
            </a:r>
          </a:p>
        </p:txBody>
      </p:sp>
      <p:sp>
        <p:nvSpPr>
          <p:cNvPr id="3" name="Content Placeholder 2"/>
          <p:cNvSpPr>
            <a:spLocks noGrp="1"/>
          </p:cNvSpPr>
          <p:nvPr>
            <p:ph idx="1"/>
          </p:nvPr>
        </p:nvSpPr>
        <p:spPr/>
        <p:txBody>
          <a:bodyPr/>
          <a:lstStyle/>
          <a:p>
            <a:pPr>
              <a:defRPr sz="1800"/>
            </a:pPr>
            <a:r>
              <a:t>Die Materialverteilung bestimmt den Charakter der Fassade. Holzflächen wirken warm und lebendig, Putzflächen ruhig, Metall klar und Faserzement neutral. Materialwechsel können an Gebäudeachsen ausgerichtet oder auf wenige Felder konzentriert werden. Horizontale oder vertikale Linien geben der Gliederung Ordnung. Farbtöne von Holz und angrenzendem Material sollten aufeinander abgestimmt sein.</a:t>
            </a:r>
          </a:p>
          <a:p>
            <a:pPr>
              <a:defRPr sz="1800"/>
            </a:pPr>
          </a:p>
          <a:p>
            <a:pPr>
              <a:defRPr sz="1800"/>
            </a:pPr>
            <a:r>
              <a:t>Bei frei bewitterten Holzflächen ist außerdem mit unterschiedlich starker Vergrauung zu rechnen. Eine Beschichtung verlangt dann eine entsprechende Wartung, damit Holz und angrenzende Materialien unterschiedlich behandelt werden. Die Materialgrenze ist 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Optik und Wartung an der Materialgrenze</a:t>
            </a:r>
          </a:p>
        </p:txBody>
      </p:sp>
      <p:sp>
        <p:nvSpPr>
          <p:cNvPr id="3" name="Content Placeholder 2"/>
          <p:cNvSpPr>
            <a:spLocks noGrp="1"/>
          </p:cNvSpPr>
          <p:nvPr>
            <p:ph idx="1"/>
          </p:nvPr>
        </p:nvSpPr>
        <p:spPr/>
        <p:txBody>
          <a:bodyPr/>
          <a:lstStyle/>
          <a:p>
            <a:pPr>
              <a:defRPr sz="1800"/>
            </a:pPr>
            <a:r>
              <a:t>ugleich eine Wartungsgrenze: Fugen und Profile sollten regelmäßig auf Dichtigkeit geprüft, Verschmutzungen vorsichtig entfernt und Anschlüsse an Sockel und Traufe kontrolliert werden. Vor der Festlegung von Holzart, Profil und Oberfläche ist deshalb eine objektspezifische Detailplanung sinnvoll.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Mischfassade aus Holz und Putz, Metall oder Faserzement: Übergänge, Profile und Schichttrennung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