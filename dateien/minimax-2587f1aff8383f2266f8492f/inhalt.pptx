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039holzfassade/-/blob/d221d0081e0c2c4d897697c3071b652dab01cf72/_posts/2026-10-18-photovoltaik-holzfassade-brandschutz-hinterlueftung-befestigung.md" TargetMode="External"/><Relationship Id="rId3" Type="http://schemas.openxmlformats.org/officeDocument/2006/relationships/hyperlink" Target="https://holzundhaus.github.io/039holzfassade/dateien/minimax-2587f1aff8383f2266f8492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und Holzfassade: Brandschutz, Hinterlüftung und Befestigung im Zusammenspiel · Erklärende Präsentation</a:t>
            </a:r>
          </a:p>
        </p:txBody>
      </p:sp>
      <p:sp>
        <p:nvSpPr>
          <p:cNvPr id="3" name="Content Placeholder 2"/>
          <p:cNvSpPr>
            <a:spLocks noGrp="1"/>
          </p:cNvSpPr>
          <p:nvPr>
            <p:ph idx="1"/>
          </p:nvPr>
        </p:nvSpPr>
        <p:spPr/>
        <p:txBody>
          <a:bodyPr/>
          <a:lstStyle/>
          <a:p>
            <a:r>
              <a:t>Überblick: Regenwasser an Gebäuden mit Holzfassade: Worauf Bauherren und Planer achten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Regenwasser bei Holzbaufassaden besonders relevant ist</a:t>
            </a:r>
          </a:p>
        </p:txBody>
      </p:sp>
      <p:sp>
        <p:nvSpPr>
          <p:cNvPr id="3" name="Content Placeholder 2"/>
          <p:cNvSpPr>
            <a:spLocks noGrp="1"/>
          </p:cNvSpPr>
          <p:nvPr>
            <p:ph idx="1"/>
          </p:nvPr>
        </p:nvSpPr>
        <p:spPr/>
        <p:txBody>
          <a:bodyPr/>
          <a:lstStyle/>
          <a:p>
            <a:pPr>
              <a:defRPr sz="1800"/>
            </a:pPr>
            <a:r>
              <a:t>Holzfassaden schützen das Gebäude durch einen hinterlüfteten Aufbau vor Witterungseinflüssen. Dabei spielt der Umgang mit Regenwasser eine zentrale Rolle: Schlagregen, Spritzwasser und anfallendes Tauwasser müssen kontrolliert abgeleitet werden, damit die Holzbekleidung dauerhaft trocken bleibt. Bei der Planung von Carports, Terrassenüberdachungen oder anderen Anbauten an Gebäuden mit Holzfassade entstehen zusätzliche Anschlusspunkte, an denen Regenwasser gezielt geführt werden muss. Diese Übergänge zwischen verschiedenen Bauteilen sind ohne sorgfältige Detailplanung besonders anfällig für Feuchteschäden. Die Hauptseite zu Holzfassaden zeigt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Regenwasser bei Holzbaufassaden besonders relevant ist</a:t>
            </a:r>
          </a:p>
        </p:txBody>
      </p:sp>
      <p:sp>
        <p:nvSpPr>
          <p:cNvPr id="3" name="Content Placeholder 2"/>
          <p:cNvSpPr>
            <a:spLocks noGrp="1"/>
          </p:cNvSpPr>
          <p:nvPr>
            <p:ph idx="1"/>
          </p:nvPr>
        </p:nvSpPr>
        <p:spPr/>
        <p:txBody>
          <a:bodyPr/>
          <a:lstStyle/>
          <a:p>
            <a:pPr>
              <a:defRPr sz="1800"/>
            </a:pPr>
            <a:r>
              <a:t>bereits, dass die Hinterlüftung das zentrale Feuchtekonzept darstellt – Regenwasserableitung ergänzt dieses Konzept an den Anschlussstellen.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Spritzwasserschutz am Sockel sichern</a:t>
            </a:r>
          </a:p>
        </p:txBody>
      </p:sp>
      <p:sp>
        <p:nvSpPr>
          <p:cNvPr id="3" name="Content Placeholder 2"/>
          <p:cNvSpPr>
            <a:spLocks noGrp="1"/>
          </p:cNvSpPr>
          <p:nvPr>
            <p:ph idx="1"/>
          </p:nvPr>
        </p:nvSpPr>
        <p:spPr/>
        <p:txBody>
          <a:bodyPr/>
          <a:lstStyle/>
          <a:p>
            <a:pPr>
              <a:defRPr sz="1800"/>
            </a:pPr>
            <a:r>
              <a:t>Der Sockelbereich ist die kritischste Zone für Spritzwasser bei einer Holzfassade. Beim Anbau eines Carports oder einer Terrassenüberdachung muss die Anschlusshöhe so gewählt werden, dass die Holzbekleidung nicht dauerhaft durch Spritzwasser belastet wird. Die Sockelleiste, ein ausreichender Abstand der Holzbekleidung zum Boden und eine funktionierende Attika- oder Mauerabdeckung bilden die erste Verteidigungslinie. Bei Anschlüssen an bestehende Holzfassaden ist zu prüfen, ob die vorhandene Sockelausbildung den erhöhten Wasseranfall durch das neue Bauteil noch abführen kann. Ein ausreichender Überstand der Überdachung über die Fassade reduzie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Spritzwasserschutz am Sockel sichern</a:t>
            </a:r>
          </a:p>
        </p:txBody>
      </p:sp>
      <p:sp>
        <p:nvSpPr>
          <p:cNvPr id="3" name="Content Placeholder 2"/>
          <p:cNvSpPr>
            <a:spLocks noGrp="1"/>
          </p:cNvSpPr>
          <p:nvPr>
            <p:ph idx="1"/>
          </p:nvPr>
        </p:nvSpPr>
        <p:spPr/>
        <p:txBody>
          <a:bodyPr/>
          <a:lstStyle/>
          <a:p>
            <a:pPr>
              <a:defRPr sz="1800"/>
            </a:pPr>
            <a:r>
              <a:t>rt die direkte Wasserbelastung am Anschlusspunkt erheblich.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Ableitung von Regenwasser bei Überdachungen planen</a:t>
            </a:r>
          </a:p>
        </p:txBody>
      </p:sp>
      <p:sp>
        <p:nvSpPr>
          <p:cNvPr id="3" name="Content Placeholder 2"/>
          <p:cNvSpPr>
            <a:spLocks noGrp="1"/>
          </p:cNvSpPr>
          <p:nvPr>
            <p:ph idx="1"/>
          </p:nvPr>
        </p:nvSpPr>
        <p:spPr/>
        <p:txBody>
          <a:bodyPr/>
          <a:lstStyle/>
          <a:p>
            <a:pPr>
              <a:defRPr sz="1800"/>
            </a:pPr>
            <a:r>
              <a:t>Terrassenüberdachungen und Carports leiten Regenwasser gezielt ab, oft über Rinnen und Fallrohre. Diese Leitungen müssen so angeschlossen werden, dass das Wasser nicht in den Hinterlüftungsraum der Fassade oder hinter die Bekleidung gelangt. Fallrohre sollten mit einem ausreichenden Abstand zur Holzfassade enden oder in geschlossene Systeme integriert werden, die das Wasser sicher vom Gebäude wegführen. Bei der Kombination von Photovoltaik auf der Überdachung – ein Thema, das auf der Hauptseite zur Holzfassade ausführlich behandelt wird – gelten für die Regenwasserableitung zusätzliche Anforderungen an die Durchdringungen und Anschlüsse. Die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Ableitung von Regenwasser bei Überdachungen planen</a:t>
            </a:r>
          </a:p>
        </p:txBody>
      </p:sp>
      <p:sp>
        <p:nvSpPr>
          <p:cNvPr id="3" name="Content Placeholder 2"/>
          <p:cNvSpPr>
            <a:spLocks noGrp="1"/>
          </p:cNvSpPr>
          <p:nvPr>
            <p:ph idx="1"/>
          </p:nvPr>
        </p:nvSpPr>
        <p:spPr/>
        <p:txBody>
          <a:bodyPr/>
          <a:lstStyle/>
          <a:p>
            <a:pPr>
              <a:defRPr sz="1800"/>
            </a:pPr>
            <a:r>
              <a:t>Planung der Entwässerung und die Planung der PV-Befestigung greifen hier räumlich unmittelbar ineinander.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zwischen Überdachung und Fassade</a:t>
            </a:r>
          </a:p>
        </p:txBody>
      </p:sp>
      <p:sp>
        <p:nvSpPr>
          <p:cNvPr id="3" name="Content Placeholder 2"/>
          <p:cNvSpPr>
            <a:spLocks noGrp="1"/>
          </p:cNvSpPr>
          <p:nvPr>
            <p:ph idx="1"/>
          </p:nvPr>
        </p:nvSpPr>
        <p:spPr/>
        <p:txBody>
          <a:bodyPr/>
          <a:lstStyle/>
          <a:p>
            <a:pPr>
              <a:defRPr sz="1800"/>
            </a:pPr>
            <a:r>
              <a:t>Der Anschlussbereich zwischen Terrassenüberdachung oder Carport und Holzfassade erfordert eine detailgenaue Ausbildung. Die Überdachungskonstruktion muss so an die Fassade angeschlossen werden, dass der Luftweg der hinterlüfteten Fassade nicht unterbrochen wird. Gleichzeitig muss verhindert werden, dass Wasser in den Hohlraum hinter der Bekleidung eindringt. Anschlussbleche, geschlossene Fugenprofile und eine hinterlaufsichere Ausbildung sind Standardlösungen, deren konkrete Ausführung vom Wandaufbau und der Neigung der Überdachung abhängt. Die Hinweise der Hauptseite zur Holzfassade, dass Anschlüsse mehr als nur Fläche sind, gelten hier in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zwischen Überdachung und Fassade</a:t>
            </a:r>
          </a:p>
        </p:txBody>
      </p:sp>
      <p:sp>
        <p:nvSpPr>
          <p:cNvPr id="3" name="Content Placeholder 2"/>
          <p:cNvSpPr>
            <a:spLocks noGrp="1"/>
          </p:cNvSpPr>
          <p:nvPr>
            <p:ph idx="1"/>
          </p:nvPr>
        </p:nvSpPr>
        <p:spPr/>
        <p:txBody>
          <a:bodyPr/>
          <a:lstStyle/>
          <a:p>
            <a:pPr>
              <a:defRPr sz="1800"/>
            </a:pPr>
            <a:r>
              <a:t>esonderem Maß – jede Undichtigkeit kann sich im Hohlraum unbemerkt ausbreiten.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Kontrolle der Anschlusspunkte</a:t>
            </a:r>
          </a:p>
        </p:txBody>
      </p:sp>
      <p:sp>
        <p:nvSpPr>
          <p:cNvPr id="3" name="Content Placeholder 2"/>
          <p:cNvSpPr>
            <a:spLocks noGrp="1"/>
          </p:cNvSpPr>
          <p:nvPr>
            <p:ph idx="1"/>
          </p:nvPr>
        </p:nvSpPr>
        <p:spPr/>
        <p:txBody>
          <a:bodyPr/>
          <a:lstStyle/>
          <a:p>
            <a:pPr>
              <a:defRPr sz="1800"/>
            </a:pPr>
            <a:r>
              <a:t>Die Übergänge zwischen Überdachung und Holzfassade sollten bei der regelmäßigen Wartung des Gebäudes mitgeprüft werden. Besonders nach Starkregenereignissen oder im Herbst, wenn Laub die Rinnen belasten kann, ist Sichtkontrolle sinnvoll. Verstopfte Rinnen und Fallrohre führen dazu, dass Wasser überläuft und unkontrolliert auf die Fassade trifft. Die Holzbekleidung selbst ist witterungsbeständig, wenn sie hinterlüftet bleibt – stehendes Wasser oder dauerhaft durchnässte Bereiche sind jedoch auch bei widerstandsfähigen Hölzern auf Dauer problematisch. Eine durchdachte Planung der Regenwasserableitung bereits in der Entwurfsphase erspart nachträ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Kontrolle der Anschlusspunkte</a:t>
            </a:r>
          </a:p>
        </p:txBody>
      </p:sp>
      <p:sp>
        <p:nvSpPr>
          <p:cNvPr id="3" name="Content Placeholder 2"/>
          <p:cNvSpPr>
            <a:spLocks noGrp="1"/>
          </p:cNvSpPr>
          <p:nvPr>
            <p:ph idx="1"/>
          </p:nvPr>
        </p:nvSpPr>
        <p:spPr/>
        <p:txBody>
          <a:bodyPr/>
          <a:lstStyle/>
          <a:p>
            <a:pPr>
              <a:defRPr sz="1800"/>
            </a:pPr>
            <a:r>
              <a:t>gliche Korrekturen und schützt die Fassade dauerhaft.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und Holzfassade: Brandschutz, Hinterlüftung und Befestigung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