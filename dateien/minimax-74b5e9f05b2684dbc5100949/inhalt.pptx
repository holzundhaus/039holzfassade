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holzfassade/-/blob/ebd8ee2104b6bbe726ff515fcbf29b1347b667d7/_posts/2026-10-24-wetterschutzebene-hinter-holzfassade-schlagregen.md" TargetMode="External"/><Relationship Id="rId3" Type="http://schemas.openxmlformats.org/officeDocument/2006/relationships/hyperlink" Target="https://holzundhaus.github.io/039holzfassade/dateien/minimax-74b5e9f05b2684dbc510094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Wetterschutzebene hinter der Holzfassade: abgestimmt auf Schlagregen, Wandorientierung und Lage · Erklärende Präsentation</a:t>
            </a:r>
          </a:p>
        </p:txBody>
      </p:sp>
      <p:sp>
        <p:nvSpPr>
          <p:cNvPr id="3" name="Content Placeholder 2"/>
          <p:cNvSpPr>
            <a:spLocks noGrp="1"/>
          </p:cNvSpPr>
          <p:nvPr>
            <p:ph idx="1"/>
          </p:nvPr>
        </p:nvSpPr>
        <p:spPr/>
        <p:txBody>
          <a:bodyPr/>
          <a:lstStyle/>
          <a:p>
            <a:r>
              <a:t>Überblick: Hinter einer hinterlüfteten Holzfassade entscheidet nicht nur die sichtbare Bekleidung über den Schutz der Konstruktion. Die Wetterschutzebene direkt hinter der Lattung muss gegen die tatsächliche Schlagregenbelastung ausgelegt sein. Entscheidend sind dabei die Orientierung der Wand, die Höhe und Lage des Gebäudes sowie die angeschlossenen Details. Dieser Beitrag erklärt, wie sich die Beanspruchung einordnen lässt und welche Rolle Bahn, Anschlüsse und Hinterlüftung gemeinsam spielen.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Wetterschutzebene nicht für alle Wände gleich ist</a:t>
            </a:r>
          </a:p>
        </p:txBody>
      </p:sp>
      <p:sp>
        <p:nvSpPr>
          <p:cNvPr id="3" name="Content Placeholder 2"/>
          <p:cNvSpPr>
            <a:spLocks noGrp="1"/>
          </p:cNvSpPr>
          <p:nvPr>
            <p:ph idx="1"/>
          </p:nvPr>
        </p:nvSpPr>
        <p:spPr/>
        <p:txBody>
          <a:bodyPr/>
          <a:lstStyle/>
          <a:p>
            <a:pPr>
              <a:defRPr sz="1800"/>
            </a:pPr>
            <a:r>
              <a:t>Eine Holzfassade kann Regen, Schnee und Spritzwasser nicht vollständig von der dahinterliegenden Konstruktion fernhalten. Hinter der Bekleidung darf Feuchte kurzzeitig auftreten, sie muss jedoch abgeführt werden, bevor sie in Dämmung oder Tragkonstruktion gelangt. Die Wetterschutzebene übernimmt dabei zwei wesentliche Aufgaben: Sie begrenzt das Eindringen von Wasser und lässt gleichzeitig Wasserdampf aus dem Wandinneren nach außen diffundieren.</a:t>
            </a:r>
          </a:p>
          <a:p>
            <a:pPr>
              <a:defRPr sz="1800"/>
            </a:pPr>
          </a:p>
          <a:p>
            <a:pPr>
              <a:defRPr sz="1800"/>
            </a:pPr>
            <a:r>
              <a:t>Die erforderliche Beanspruchung kann je nach Wandabschnitt deutlich unterschiedlich sein. Eine wetterseitig ausgerichtete Fläche ist meist stärker betroffen als eine geschützte Wand. Auch Obergeschoss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Wetterschutzebene nicht für alle Wände gleich ist</a:t>
            </a:r>
          </a:p>
        </p:txBody>
      </p:sp>
      <p:sp>
        <p:nvSpPr>
          <p:cNvPr id="3" name="Content Placeholder 2"/>
          <p:cNvSpPr>
            <a:spLocks noGrp="1"/>
          </p:cNvSpPr>
          <p:nvPr>
            <p:ph idx="1"/>
          </p:nvPr>
        </p:nvSpPr>
        <p:spPr/>
        <p:txBody>
          <a:bodyPr/>
          <a:lstStyle/>
          <a:p>
            <a:pPr>
              <a:defRPr sz="1800"/>
            </a:pPr>
            <a:r>
              <a:t>e, Gebäudeecken und freistehende Objekte erfahren häufiger Schlagregen als Flächen im Erdgeschoss oder in geschützten Innenhoflagen. Deshalb sollte nicht pauschal eine Standardbahn ausgewählt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Wandorientierung, Gebäudehöhe und Lage gemeinsam betrachten</a:t>
            </a:r>
          </a:p>
        </p:txBody>
      </p:sp>
      <p:sp>
        <p:nvSpPr>
          <p:cNvPr id="3" name="Content Placeholder 2"/>
          <p:cNvSpPr>
            <a:spLocks noGrp="1"/>
          </p:cNvSpPr>
          <p:nvPr>
            <p:ph idx="1"/>
          </p:nvPr>
        </p:nvSpPr>
        <p:spPr/>
        <p:txBody>
          <a:bodyPr/>
          <a:lstStyle/>
          <a:p>
            <a:pPr>
              <a:defRPr sz="1800"/>
            </a:pPr>
            <a:r>
              <a:t>Für die Einordnung einer Wandflächen werden zunächst drei Faktoren betrachtet. Die Wandorientierung gibt Auskunft über die wahrscheinliche Wetterseitigkeit. Westlich ausgerichtete Flächen werden häufig stärker von horizontalem Regen erreicht; Nordwände sind meist weniger regen-, aber stärker taubeansprucht. Die genaue Einordnung hängt jedoch von der jeweiligen Bebauung und Geländesituation ab.</a:t>
            </a:r>
          </a:p>
          <a:p>
            <a:pPr>
              <a:defRPr sz="1800"/>
            </a:pPr>
          </a:p>
          <a:p>
            <a:pPr>
              <a:defRPr sz="1800"/>
            </a:pPr>
            <a:r>
              <a:t>Mit zunehmender Gebäudehöhe steigt die Windgeschwindigkeit, wodurch Regen stärker gegen die Fassade getrieben wird. Obergeschosse und Eckbereiche benötigen deshalb mehr Aufmerksamkeit als geschützte Wandabschnitte tiefer unten. Auch die Lage des Gebäud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Wandorientierung, Gebäudehöhe und Lage gemeinsam betrachten</a:t>
            </a:r>
          </a:p>
        </p:txBody>
      </p:sp>
      <p:sp>
        <p:nvSpPr>
          <p:cNvPr id="3" name="Content Placeholder 2"/>
          <p:cNvSpPr>
            <a:spLocks noGrp="1"/>
          </p:cNvSpPr>
          <p:nvPr>
            <p:ph idx="1"/>
          </p:nvPr>
        </p:nvSpPr>
        <p:spPr/>
        <p:txBody>
          <a:bodyPr/>
          <a:lstStyle/>
          <a:p>
            <a:pPr>
              <a:defRPr sz="1800"/>
            </a:pPr>
            <a:r>
              <a:t>es ist relevant: Freistehende Häuser, Hanglagen, Objekte nahe Gewässern oder stark exponierte Standorte können mehr Schlagregen aufnehmen als Stadthäuser im Windschatten.</a:t>
            </a:r>
          </a:p>
          <a:p>
            <a:pPr>
              <a:defRPr sz="1800"/>
            </a:pPr>
          </a:p>
          <a:p>
            <a:pPr>
              <a:defRPr sz="1800"/>
            </a:pPr>
            <a:r>
              <a:t>Zusätzlich beeinflusst die Geometrie des Hauses die Belastung. geneigte Flächen, Ecken und vorspringende Bauteile können Wasser oder Schlagregen bündeln. Bei der Beurteilung eines konkreten Projekts sollten deshalb Klimadaten, Gebäudehöhe, Nachbarbebauung und die Lage einzelner Wandflächen gemeinsam herangezogen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geringer bis hoher Beanspruchung</a:t>
            </a:r>
          </a:p>
        </p:txBody>
      </p:sp>
      <p:sp>
        <p:nvSpPr>
          <p:cNvPr id="3" name="Content Placeholder 2"/>
          <p:cNvSpPr>
            <a:spLocks noGrp="1"/>
          </p:cNvSpPr>
          <p:nvPr>
            <p:ph idx="1"/>
          </p:nvPr>
        </p:nvSpPr>
        <p:spPr/>
        <p:txBody>
          <a:bodyPr/>
          <a:lstStyle/>
          <a:p>
            <a:pPr>
              <a:defRPr sz="1800"/>
            </a:pPr>
            <a:r>
              <a:t>In der Fachliteratur werden üblicherweise drei bis vier Beanspruchungsklassen unterschieden. Für geringe Beanspruchung stehen beispielsweise Innenhoflagen, mehrseitig geschützte Standorte und überwiegend trockene Wandflächen. Mittlere Beanspruchung wird für typische Wohngebäude in städtischer Lage angenommen, sofern Nachbarbebauung oder Vegetation einen Teil des Schlagregens abhalten.</a:t>
            </a:r>
          </a:p>
          <a:p>
            <a:pPr>
              <a:defRPr sz="1800"/>
            </a:pPr>
          </a:p>
          <a:p>
            <a:pPr>
              <a:defRPr sz="1800"/>
            </a:pPr>
            <a:r>
              <a:t>Eine hohe Beanspruchung ergibt sich häufig bei freistehenden Gebäuden, wetterseitigen Wandflächen, obersten Geschossen und Lagen mit häufigem Starkregen. Welche Klasse im Einzelfall zutrifft, lässt sich nur am Objekt beurteilen. Regionale Klimadaten, die tatsäc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geringer bis hoher Beanspruchung</a:t>
            </a:r>
          </a:p>
        </p:txBody>
      </p:sp>
      <p:sp>
        <p:nvSpPr>
          <p:cNvPr id="3" name="Content Placeholder 2"/>
          <p:cNvSpPr>
            <a:spLocks noGrp="1"/>
          </p:cNvSpPr>
          <p:nvPr>
            <p:ph idx="1"/>
          </p:nvPr>
        </p:nvSpPr>
        <p:spPr/>
        <p:txBody>
          <a:bodyPr/>
          <a:lstStyle/>
          <a:p>
            <a:pPr>
              <a:defRPr sz="1800"/>
            </a:pPr>
            <a:r>
              <a:t>hliche Ausrichtung und die vorhandene Abschirmung fließen in diese Einschätzung ein.</a:t>
            </a:r>
          </a:p>
          <a:p>
            <a:pPr>
              <a:defRPr sz="1800"/>
            </a:pPr>
          </a:p>
          <a:p>
            <a:pPr>
              <a:defRPr sz="1800"/>
            </a:pPr>
            <a:r>
              <a:t>Die Einordnung ist keine bloße Planungskategorie: Sie beeinflusst die erforderliche Robustheit der Bahn, die Ausbildung der Anschlüsse und möglicherweise die Ergänzung durch eine Unterdeckung.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Bahnen und ergänzende Unterdeckung</a:t>
            </a:r>
          </a:p>
        </p:txBody>
      </p:sp>
      <p:sp>
        <p:nvSpPr>
          <p:cNvPr id="3" name="Content Placeholder 2"/>
          <p:cNvSpPr>
            <a:spLocks noGrp="1"/>
          </p:cNvSpPr>
          <p:nvPr>
            <p:ph idx="1"/>
          </p:nvPr>
        </p:nvSpPr>
        <p:spPr/>
        <p:txBody>
          <a:bodyPr/>
          <a:lstStyle/>
          <a:p>
            <a:pPr>
              <a:defRPr sz="1800"/>
            </a:pPr>
            <a:r>
              <a:t>Für gering bis mittel beanspruchte Flächen kommen diffusionsoffene Bahnen mit niedrigem sd-Wert infrage. Sie müssen ausreichend widerstandsfähig gegen UV-Belastung und Alterung sein und mit ausreichender Überlappung sowie winddicht verlegt werden. Bei hoher Beanspruchung sind diffusionsoffene Bahnen mit erhöhter Schlagregendichtheit, dauerhaft wasserabweisender Oberfläche und greater Reißfestigkeit geeigneter.</a:t>
            </a:r>
          </a:p>
          <a:p>
            <a:pPr>
              <a:defRPr sz="1800"/>
            </a:pPr>
          </a:p>
          <a:p>
            <a:pPr>
              <a:defRPr sz="1800"/>
            </a:pPr>
            <a:r>
              <a:t>In besonders exponierten Lagen können zusätzlich diffusionsoffene Unterdeckplatten, etwa aus Holzwerkstoff oder Faserplatten, sinnvoll sein. An besonders beanspruchten Stellen wie Gebäudeecken und oberen Abschlüssen ergänzen Anschlussp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Bahnen und ergänzende Unterdeckung</a:t>
            </a:r>
          </a:p>
        </p:txBody>
      </p:sp>
      <p:sp>
        <p:nvSpPr>
          <p:cNvPr id="3" name="Content Placeholder 2"/>
          <p:cNvSpPr>
            <a:spLocks noGrp="1"/>
          </p:cNvSpPr>
          <p:nvPr>
            <p:ph idx="1"/>
          </p:nvPr>
        </p:nvSpPr>
        <p:spPr/>
        <p:txBody>
          <a:bodyPr/>
          <a:lstStyle/>
          <a:p>
            <a:pPr>
              <a:defRPr sz="1800"/>
            </a:pPr>
            <a:r>
              <a:t>rofile, Kappleisten oder vorgefertigte Dichtelemente die Bahn.</a:t>
            </a:r>
          </a:p>
          <a:p>
            <a:pPr>
              <a:defRPr sz="1800"/>
            </a:pPr>
          </a:p>
          <a:p>
            <a:pPr>
              <a:defRPr sz="1800"/>
            </a:pPr>
            <a:r>
              <a:t>Wichtig bleibt, dass die Bahn diffusionsoffen genug ist, damit Raumfeuchte nach außen abtrocknen kann. Eine zu dichte Ausführung kann Feuchte in der Konstruktion einschließen und dadurch mehr Schaden verursachen, als sie verhindert. Die Grundlagen der Wetterschutzebene und ihrer Funktion im Schichtenaufbau erläutert der zugehörige Fachbeitrag.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Hinterlüftung entscheiden mit</a:t>
            </a:r>
          </a:p>
        </p:txBody>
      </p:sp>
      <p:sp>
        <p:nvSpPr>
          <p:cNvPr id="3" name="Content Placeholder 2"/>
          <p:cNvSpPr>
            <a:spLocks noGrp="1"/>
          </p:cNvSpPr>
          <p:nvPr>
            <p:ph idx="1"/>
          </p:nvPr>
        </p:nvSpPr>
        <p:spPr/>
        <p:txBody>
          <a:bodyPr/>
          <a:lstStyle/>
          <a:p>
            <a:pPr>
              <a:defRPr sz="1800"/>
            </a:pPr>
            <a:r>
              <a:t>Die Auswahl der Bahn genügt nicht, wenn ihre Anschlüsse undurchdringlich sind. Sockel, Fensterlaibungen, Ecken und obere Abschlüsse müssen so ausgebildet werden, dass Wasser kontrolliert vor der Wetterschutzebene abgeleitet wird. Gleichzeitig dürfen Lufteintritts- und Luftaustrittsöffnungen am Sockel und Dachrand nicht blockiert werden, damit der Luftzwischenraum seine Funktion erfüllen kann.</a:t>
            </a:r>
          </a:p>
          <a:p>
            <a:pPr>
              <a:defRPr sz="1800"/>
            </a:pPr>
          </a:p>
          <a:p>
            <a:pPr>
              <a:defRPr sz="1800"/>
            </a:pPr>
            <a:r>
              <a:t>Vor der Bestellung sollten deshalb unter anderem die Wandorientierung, die Geschosslage, die Standortexposition sowie die vorgesehenen Anschlussprofile und Überlappungsmaße geklärt werden. Auch die Frage, ob Feuchte in der Nachbarschaft beobachtet wurde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Hinterlüftung entscheiden mit</a:t>
            </a:r>
          </a:p>
        </p:txBody>
      </p:sp>
      <p:sp>
        <p:nvSpPr>
          <p:cNvPr id="3" name="Content Placeholder 2"/>
          <p:cNvSpPr>
            <a:spLocks noGrp="1"/>
          </p:cNvSpPr>
          <p:nvPr>
            <p:ph idx="1"/>
          </p:nvPr>
        </p:nvSpPr>
        <p:spPr/>
        <p:txBody>
          <a:bodyPr/>
          <a:lstStyle/>
          <a:p>
            <a:pPr>
              <a:defRPr sz="1800"/>
            </a:pPr>
            <a:r>
              <a:t>, kann bei der Einordnung helfen. Für die Prüfung einer bereits vorhandenen Konstruktion bietet der Sanierungsratgeber zur Befundaufnahme ergänzende Hinweise.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Wetterschutzebene hinter der Holzfassade: abgestimmt auf Schlagregen, Wandorientierung und Lage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